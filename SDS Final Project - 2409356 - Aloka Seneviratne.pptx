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35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8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70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1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7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6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0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9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78BD7D8-2BF1-4B50-A088-8E29540F715F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E2EECB1-F1D9-4DCA-9327-B4C99BE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0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343F-47E6-D76F-DCDB-D546E0DBC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91253"/>
          </a:xfrm>
        </p:spPr>
        <p:txBody>
          <a:bodyPr>
            <a:normAutofit/>
          </a:bodyPr>
          <a:lstStyle/>
          <a:p>
            <a:r>
              <a:rPr lang="en-US" sz="4000" dirty="0"/>
              <a:t>Software Defined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0BF9E-9C0C-E892-08E3-FDB2214DE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87259"/>
            <a:ext cx="9144000" cy="546185"/>
          </a:xfrm>
        </p:spPr>
        <p:txBody>
          <a:bodyPr>
            <a:normAutofit/>
          </a:bodyPr>
          <a:lstStyle/>
          <a:p>
            <a:r>
              <a:rPr lang="en-US" sz="2400" dirty="0"/>
              <a:t>Final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D7A17-DCFB-EB6C-9B34-80F57D6573B1}"/>
              </a:ext>
            </a:extLst>
          </p:cNvPr>
          <p:cNvSpPr txBox="1"/>
          <p:nvPr/>
        </p:nvSpPr>
        <p:spPr>
          <a:xfrm>
            <a:off x="607554" y="5075227"/>
            <a:ext cx="3884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      : P.A. Seneviratne</a:t>
            </a:r>
          </a:p>
          <a:p>
            <a:r>
              <a:rPr lang="en-US" dirty="0"/>
              <a:t>Index N.o : 2409356</a:t>
            </a:r>
          </a:p>
        </p:txBody>
      </p:sp>
      <p:pic>
        <p:nvPicPr>
          <p:cNvPr id="1026" name="Picture 2" descr="An Introduction to Containers, Docker, and Kubernetes | by Lawrence Han |  Medium">
            <a:extLst>
              <a:ext uri="{FF2B5EF4-FFF2-40B4-BE49-F238E27FC236}">
                <a16:creationId xmlns:a16="http://schemas.microsoft.com/office/drawing/2014/main" id="{EDF8A3CD-0E87-44FE-5170-ED4ACC765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3215" y1="25649" x2="13215" y2="25649"/>
                        <a14:foregroundMark x1="17662" y1="37987" x2="21347" y2="48377"/>
                        <a14:foregroundMark x1="13596" y1="56818" x2="13596" y2="56818"/>
                        <a14:foregroundMark x1="13215" y1="57468" x2="18424" y2="48052"/>
                        <a14:foregroundMark x1="18424" y1="48052" x2="18424" y2="48052"/>
                        <a14:foregroundMark x1="20966" y1="17208" x2="20076" y2="288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94" y="2933444"/>
            <a:ext cx="749617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928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6230-D114-C676-7C78-B5D95881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CA50-D1F6-3B37-37B0-538694CA0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98" y="1926162"/>
            <a:ext cx="11386673" cy="3101983"/>
          </a:xfrm>
        </p:spPr>
        <p:txBody>
          <a:bodyPr/>
          <a:lstStyle/>
          <a:p>
            <a:r>
              <a:rPr lang="en-US" dirty="0"/>
              <a:t>This project is focused on creating Newborn Monitoring System in order to monitor the vitals of a newborn remotely and provide real-time updates of the vitals of the newborn. It can be defined as a software-defined IoT health monitoring system. The Monitoring System consists of the following components and services. </a:t>
            </a:r>
          </a:p>
          <a:p>
            <a:pPr lvl="1"/>
            <a:r>
              <a:rPr lang="en-US" dirty="0"/>
              <a:t>Edge device collects vitals</a:t>
            </a:r>
          </a:p>
          <a:p>
            <a:pPr lvl="1"/>
            <a:r>
              <a:rPr lang="en-US" dirty="0" err="1"/>
              <a:t>FastAPI</a:t>
            </a:r>
            <a:r>
              <a:rPr lang="en-US" dirty="0"/>
              <a:t> makes up the backend which stores data in a database &amp; serves data</a:t>
            </a:r>
          </a:p>
          <a:p>
            <a:pPr lvl="1"/>
            <a:r>
              <a:rPr lang="en-US" dirty="0"/>
              <a:t>Dashboard visualizes live readings</a:t>
            </a:r>
          </a:p>
          <a:p>
            <a:pPr lvl="1"/>
            <a:r>
              <a:rPr lang="en-US" dirty="0"/>
              <a:t>Deployed on OpenShift/Kubernetes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68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5042-48D2-51F3-3770-D1C85F887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A72A-584A-B688-57AB-83D3C66D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E4B2D-FE58-ACF8-FFA7-E133ECA05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98" y="1926162"/>
            <a:ext cx="11386673" cy="3101983"/>
          </a:xfrm>
        </p:spPr>
        <p:txBody>
          <a:bodyPr/>
          <a:lstStyle/>
          <a:p>
            <a:r>
              <a:rPr lang="en-US" dirty="0"/>
              <a:t>This system consists of the following components and micro-services which have been visualized in the following slide.</a:t>
            </a:r>
          </a:p>
          <a:p>
            <a:pPr lvl="1"/>
            <a:r>
              <a:rPr lang="en-US" dirty="0"/>
              <a:t>Edge sensor device</a:t>
            </a:r>
          </a:p>
          <a:p>
            <a:pPr lvl="1"/>
            <a:r>
              <a:rPr lang="en-US" dirty="0"/>
              <a:t>Backend API (</a:t>
            </a:r>
            <a:r>
              <a:rPr lang="en-US" dirty="0" err="1"/>
              <a:t>FastAPI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MySQL database</a:t>
            </a:r>
          </a:p>
          <a:p>
            <a:pPr lvl="1"/>
            <a:r>
              <a:rPr lang="en-US"/>
              <a:t>Frontend </a:t>
            </a:r>
            <a:r>
              <a:rPr lang="en-US" dirty="0"/>
              <a:t>dashboard (Nginx + HTML/JS)</a:t>
            </a:r>
          </a:p>
          <a:p>
            <a:pPr lvl="1"/>
            <a:r>
              <a:rPr lang="en-US"/>
              <a:t>Kubernetes </a:t>
            </a:r>
            <a:r>
              <a:rPr lang="en-US" dirty="0"/>
              <a:t>Deployments, Services, Routes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9294B3-E55C-7A89-ED60-05377BFF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425" y="2751725"/>
            <a:ext cx="4513409" cy="349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8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8DED-5649-0D07-CB8C-25E55AF8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6291-A67B-FD64-E0F0-9FE25C9A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11" name="Picture 10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3F40C3DA-044E-8B2A-58E4-759C328F5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421" y="1644036"/>
            <a:ext cx="5731157" cy="484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79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39D4-4DDC-DF22-905B-2725CA98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DB313-58A9-3E7C-DAB4-E07F11D5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Edge Device Function</a:t>
            </a:r>
          </a:p>
        </p:txBody>
      </p:sp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80D47C0C-9816-3654-5F8E-5EEB83917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657" y="1742885"/>
            <a:ext cx="4805858" cy="19579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729C6E-4126-4B95-0F98-547C1C9D34FA}"/>
              </a:ext>
            </a:extLst>
          </p:cNvPr>
          <p:cNvSpPr txBox="1"/>
          <p:nvPr/>
        </p:nvSpPr>
        <p:spPr>
          <a:xfrm>
            <a:off x="673687" y="2252248"/>
            <a:ext cx="41928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Measures HR, SpO₂, temperature, 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Packages data as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Sends periodic POST /</a:t>
            </a:r>
            <a:r>
              <a:rPr lang="en-US" dirty="0" err="1"/>
              <a:t>api</a:t>
            </a:r>
            <a:r>
              <a:rPr lang="en-US" dirty="0"/>
              <a:t>/data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Acts as the system’s data producer</a:t>
            </a:r>
          </a:p>
          <a:p>
            <a:endParaRPr lang="en-US" dirty="0"/>
          </a:p>
        </p:txBody>
      </p:sp>
      <p:pic>
        <p:nvPicPr>
          <p:cNvPr id="10" name="Picture 9" descr="A circuit board with wires&#10;&#10;AI-generated content may be incorrect.">
            <a:extLst>
              <a:ext uri="{FF2B5EF4-FFF2-40B4-BE49-F238E27FC236}">
                <a16:creationId xmlns:a16="http://schemas.microsoft.com/office/drawing/2014/main" id="{8C2862CE-95FE-E320-EA7A-B6D7FBFA1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9489" y="3483867"/>
            <a:ext cx="2717501" cy="362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9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5AF8-C096-AE09-D7FF-D0442568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E243-C5F0-5308-60E4-7210C115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Backend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F9A0D-396F-3E9E-D9F5-F1A9142E2485}"/>
              </a:ext>
            </a:extLst>
          </p:cNvPr>
          <p:cNvSpPr txBox="1"/>
          <p:nvPr/>
        </p:nvSpPr>
        <p:spPr>
          <a:xfrm>
            <a:off x="968258" y="1902444"/>
            <a:ext cx="723065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Receives sensor data</a:t>
            </a:r>
          </a:p>
          <a:p>
            <a:endParaRPr lang="en-US" sz="2000" dirty="0"/>
          </a:p>
          <a:p>
            <a:r>
              <a:rPr lang="en-US" sz="2000" dirty="0"/>
              <a:t>• Validates via Pydantic</a:t>
            </a:r>
          </a:p>
          <a:p>
            <a:endParaRPr lang="en-US" sz="2000" dirty="0"/>
          </a:p>
          <a:p>
            <a:r>
              <a:rPr lang="en-US" sz="2000" dirty="0"/>
              <a:t>• Stores readings in MySQL</a:t>
            </a:r>
          </a:p>
          <a:p>
            <a:endParaRPr lang="en-US" sz="2000" dirty="0"/>
          </a:p>
          <a:p>
            <a:r>
              <a:rPr lang="en-US" sz="2000" dirty="0"/>
              <a:t>• Provides: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  </a:t>
            </a:r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/data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  GET /</a:t>
            </a:r>
            <a:r>
              <a:rPr lang="en-US" dirty="0" err="1"/>
              <a:t>api</a:t>
            </a:r>
            <a:r>
              <a:rPr lang="en-US" dirty="0"/>
              <a:t>/latest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  GET /</a:t>
            </a:r>
            <a:r>
              <a:rPr lang="en-US" dirty="0" err="1"/>
              <a:t>api</a:t>
            </a:r>
            <a:r>
              <a:rPr lang="en-US" dirty="0"/>
              <a:t>/history</a:t>
            </a:r>
          </a:p>
          <a:p>
            <a:endParaRPr lang="en-US" sz="2000" dirty="0"/>
          </a:p>
          <a:p>
            <a:r>
              <a:rPr lang="en-US" sz="2000" dirty="0"/>
              <a:t>• Handles CORS for dashboard access</a:t>
            </a:r>
          </a:p>
          <a:p>
            <a:endParaRPr lang="en-US" sz="2000" dirty="0"/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D11126F7-F6BC-A5F8-542B-E7DEB08A7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038" y="1719502"/>
            <a:ext cx="5294548" cy="44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2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4317F-A7AC-CC80-16DF-67B3D628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F508-4AAF-0B11-2DE5-8AB86A512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Database Layer (MySQL)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5A1F7-88E1-D31A-A16D-911D66FE7A2C}"/>
              </a:ext>
            </a:extLst>
          </p:cNvPr>
          <p:cNvSpPr txBox="1"/>
          <p:nvPr/>
        </p:nvSpPr>
        <p:spPr>
          <a:xfrm>
            <a:off x="827109" y="1939266"/>
            <a:ext cx="723065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“readings” table stores all metrics</a:t>
            </a:r>
          </a:p>
          <a:p>
            <a:endParaRPr lang="en-US" sz="2000" dirty="0"/>
          </a:p>
          <a:p>
            <a:r>
              <a:rPr lang="en-US" sz="2000" dirty="0"/>
              <a:t>• Key fields: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err="1"/>
              <a:t>hr</a:t>
            </a:r>
            <a:r>
              <a:rPr lang="en-US" dirty="0"/>
              <a:t>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spo2,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temp,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motion,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statuses,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timestamps</a:t>
            </a:r>
          </a:p>
          <a:p>
            <a:endParaRPr lang="en-US" sz="2000" dirty="0"/>
          </a:p>
          <a:p>
            <a:r>
              <a:rPr lang="en-US" sz="2000" dirty="0"/>
              <a:t>• Backend queries newest record for dashboard</a:t>
            </a:r>
          </a:p>
          <a:p>
            <a:endParaRPr lang="en-US" sz="2000" dirty="0"/>
          </a:p>
          <a:p>
            <a:r>
              <a:rPr lang="en-US" sz="2000" dirty="0"/>
              <a:t>• Structured for future multi-device scaling</a:t>
            </a:r>
          </a:p>
          <a:p>
            <a:endParaRPr lang="en-US" sz="2000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5C64859-34B3-23F1-F98E-796C2758A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617" y="2684306"/>
            <a:ext cx="8235633" cy="176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2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A131E-6EE5-360C-C426-36D35A418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111A-7A91-DD84-D639-66B9E550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Frontend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EEE9C-8B83-A100-AADD-204CDDC399D3}"/>
              </a:ext>
            </a:extLst>
          </p:cNvPr>
          <p:cNvSpPr txBox="1"/>
          <p:nvPr/>
        </p:nvSpPr>
        <p:spPr>
          <a:xfrm>
            <a:off x="753466" y="1939266"/>
            <a:ext cx="54386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Served by Nginx on OpenShift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HTML + JS + Chart.js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Fetches /</a:t>
            </a:r>
            <a:r>
              <a:rPr lang="en-US" sz="2000" dirty="0" err="1"/>
              <a:t>api</a:t>
            </a:r>
            <a:r>
              <a:rPr lang="en-US" sz="2000" dirty="0"/>
              <a:t>/latest every 2 seconds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Displays: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  Metric cards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  Live graphs for HR, SpO₂, temp, motion</a:t>
            </a:r>
          </a:p>
          <a:p>
            <a:endParaRPr lang="en-US" sz="2000" dirty="0"/>
          </a:p>
        </p:txBody>
      </p:sp>
      <p:pic>
        <p:nvPicPr>
          <p:cNvPr id="4" name="Picture 3" descr="A screenshot of a device&#10;&#10;AI-generated content may be incorrect.">
            <a:extLst>
              <a:ext uri="{FF2B5EF4-FFF2-40B4-BE49-F238E27FC236}">
                <a16:creationId xmlns:a16="http://schemas.microsoft.com/office/drawing/2014/main" id="{843D015A-BBB5-1B0A-0DB9-A3C62C766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826" y="1591747"/>
            <a:ext cx="2995936" cy="3266196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B71F182-E0BB-2CCE-552B-D8A29B55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322" y="3172278"/>
            <a:ext cx="3449028" cy="359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15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87BF-F78B-F6AA-E4EE-4E99296C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ED44-9B3C-032F-1C01-B2AED699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Kubernetes/OpenShift Deployment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8261F-DA75-CE24-D227-CC76BCEAA9FE}"/>
              </a:ext>
            </a:extLst>
          </p:cNvPr>
          <p:cNvSpPr txBox="1"/>
          <p:nvPr/>
        </p:nvSpPr>
        <p:spPr>
          <a:xfrm>
            <a:off x="753466" y="1939266"/>
            <a:ext cx="54386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component containerized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Deployments manage pods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Services expose them internally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Routes expose frontend + backend externally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Ensures scalability and resilience</a:t>
            </a:r>
          </a:p>
          <a:p>
            <a:endParaRPr lang="en-US" sz="20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251B48-5681-9FA2-DDE9-A594781D8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564" y="1488743"/>
            <a:ext cx="3675848" cy="234832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216A2A-9E10-C25C-A660-CA1B85092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42" y="4203600"/>
            <a:ext cx="3583796" cy="246861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7DB2E3-1B34-F615-43C3-2D904F0577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283"/>
          <a:stretch>
            <a:fillRect/>
          </a:stretch>
        </p:blipFill>
        <p:spPr>
          <a:xfrm>
            <a:off x="6462332" y="4205125"/>
            <a:ext cx="3731080" cy="247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5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DC343-AFC9-A609-5411-6600B402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C709-041C-4424-897F-39098659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REST Instead of MQTT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F23D1-C915-30DD-866F-F66071712E6B}"/>
              </a:ext>
            </a:extLst>
          </p:cNvPr>
          <p:cNvSpPr txBox="1"/>
          <p:nvPr/>
        </p:nvSpPr>
        <p:spPr>
          <a:xfrm>
            <a:off x="753466" y="1939266"/>
            <a:ext cx="54386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Simpler integration with browser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need for MQTT broker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Easier debugging (curl, Postman)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Reliable transactional writes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MQTT better for large multi-device systems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734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F592F-0454-4431-2939-3FCC5477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5031-A6D3-DC55-3AB3-21D4A148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Software-Defined Systems Concepts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F3DFC-5625-C195-85BC-89F6B1D55918}"/>
              </a:ext>
            </a:extLst>
          </p:cNvPr>
          <p:cNvSpPr txBox="1"/>
          <p:nvPr/>
        </p:nvSpPr>
        <p:spPr>
          <a:xfrm>
            <a:off x="753466" y="1939266"/>
            <a:ext cx="61996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Edge computing: device-side measurement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Software-defined storage: DB as abstracted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API-driven architecture: Clear control and Data planes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Containerized Nature shows SDI principles</a:t>
            </a:r>
          </a:p>
        </p:txBody>
      </p:sp>
    </p:spTree>
    <p:extLst>
      <p:ext uri="{BB962C8B-B14F-4D97-AF65-F5344CB8AC3E}">
        <p14:creationId xmlns:p14="http://schemas.microsoft.com/office/powerpoint/2010/main" val="2760913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45983-F60D-340D-2778-0ABF0061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A426-DAA4-F663-20C1-0C698605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BC41D-4054-EF72-E7A2-AAC70C10B05C}"/>
              </a:ext>
            </a:extLst>
          </p:cNvPr>
          <p:cNvSpPr txBox="1"/>
          <p:nvPr/>
        </p:nvSpPr>
        <p:spPr>
          <a:xfrm>
            <a:off x="753465" y="1939266"/>
            <a:ext cx="87832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Sensor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Malformed or inconsistent JSON sent to the backend.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Route misconfigurations leading to inaccessible frontend/backend URLs.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Nginx Path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Port Issues</a:t>
            </a:r>
          </a:p>
        </p:txBody>
      </p:sp>
    </p:spTree>
    <p:extLst>
      <p:ext uri="{BB962C8B-B14F-4D97-AF65-F5344CB8AC3E}">
        <p14:creationId xmlns:p14="http://schemas.microsoft.com/office/powerpoint/2010/main" val="72079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D54C-3F4C-6896-784E-673275F4C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BBAC-55E2-14D8-2F01-907FFFFB7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673"/>
            <a:ext cx="7729728" cy="1188720"/>
          </a:xfrm>
        </p:spPr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1503D-199F-1D0E-431A-00E8FFBDDDFA}"/>
              </a:ext>
            </a:extLst>
          </p:cNvPr>
          <p:cNvSpPr txBox="1"/>
          <p:nvPr/>
        </p:nvSpPr>
        <p:spPr>
          <a:xfrm>
            <a:off x="753466" y="1939266"/>
            <a:ext cx="61996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Add alerting for abnormal vitals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Multi-device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WebSockets</a:t>
            </a:r>
            <a:r>
              <a:rPr lang="en-US" sz="2000" dirty="0"/>
              <a:t> for real-time streaming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Add authentication &amp; Role Based Action Control</a:t>
            </a:r>
          </a:p>
        </p:txBody>
      </p:sp>
    </p:spTree>
    <p:extLst>
      <p:ext uri="{BB962C8B-B14F-4D97-AF65-F5344CB8AC3E}">
        <p14:creationId xmlns:p14="http://schemas.microsoft.com/office/powerpoint/2010/main" val="420395073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145</TotalTime>
  <Words>429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</vt:lpstr>
      <vt:lpstr>Parcel</vt:lpstr>
      <vt:lpstr>Software Defined Systems</vt:lpstr>
      <vt:lpstr>Project Overview</vt:lpstr>
      <vt:lpstr>System Architecture</vt:lpstr>
      <vt:lpstr>System Architecture</vt:lpstr>
      <vt:lpstr>Edge Device Function</vt:lpstr>
      <vt:lpstr>Backend Function</vt:lpstr>
      <vt:lpstr>Database Layer (MySQL)</vt:lpstr>
      <vt:lpstr>Frontend Dashboard</vt:lpstr>
      <vt:lpstr>Kubernetes/OpenShift Deployment</vt:lpstr>
      <vt:lpstr>REST Instead of MQTT</vt:lpstr>
      <vt:lpstr>Software-Defined Systems Concepts</vt:lpstr>
      <vt:lpstr>Challenges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Aloka Seneviratne</dc:creator>
  <cp:lastModifiedBy>Aloka Seneviratne</cp:lastModifiedBy>
  <cp:revision>7</cp:revision>
  <dcterms:created xsi:type="dcterms:W3CDTF">2025-12-10T02:12:21Z</dcterms:created>
  <dcterms:modified xsi:type="dcterms:W3CDTF">2025-12-10T08:43:02Z</dcterms:modified>
</cp:coreProperties>
</file>